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2" r:id="rId5"/>
    <p:sldId id="375" r:id="rId6"/>
    <p:sldId id="376" r:id="rId7"/>
    <p:sldId id="381" r:id="rId8"/>
    <p:sldId id="377" r:id="rId9"/>
    <p:sldId id="380" r:id="rId10"/>
    <p:sldId id="378" r:id="rId11"/>
    <p:sldId id="3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DFF5"/>
    <a:srgbClr val="FFFFFF"/>
    <a:srgbClr val="73EBF9"/>
    <a:srgbClr val="E3FBFE"/>
    <a:srgbClr val="000000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 showGuides="1">
      <p:cViewPr varScale="1">
        <p:scale>
          <a:sx n="91" d="100"/>
          <a:sy n="91" d="100"/>
        </p:scale>
        <p:origin x="32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i.cmu.edu/blog/taking-devsecops-to-the-next-level-with-value-stream-mappin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purdue.edu/leansixsigmaonline/blog/value-stream-mapp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187" y="1317072"/>
            <a:ext cx="5771626" cy="3107168"/>
          </a:xfrm>
        </p:spPr>
        <p:txBody>
          <a:bodyPr anchor="b"/>
          <a:lstStyle/>
          <a:p>
            <a:r>
              <a:rPr lang="en-US" sz="5400" b="1" dirty="0"/>
              <a:t>The Technology Value Stream</a:t>
            </a:r>
            <a:endParaRPr lang="en-US" sz="5400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510" y="4801744"/>
            <a:ext cx="7784980" cy="1215006"/>
          </a:xfrm>
        </p:spPr>
        <p:txBody>
          <a:bodyPr/>
          <a:lstStyle/>
          <a:p>
            <a:r>
              <a:rPr lang="en-US" dirty="0"/>
              <a:t>PRESENTATION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C1768B-776D-2C27-C0D0-764442C290DA}"/>
              </a:ext>
            </a:extLst>
          </p:cNvPr>
          <p:cNvSpPr txBox="1"/>
          <p:nvPr/>
        </p:nvSpPr>
        <p:spPr>
          <a:xfrm>
            <a:off x="6096000" y="5211918"/>
            <a:ext cx="4756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3EBF9"/>
                </a:solidFill>
                <a:latin typeface="+mj-lt"/>
              </a:rPr>
              <a:t>By Carolina Rodriguez</a:t>
            </a:r>
          </a:p>
          <a:p>
            <a:r>
              <a:rPr lang="en-US" sz="2400" dirty="0">
                <a:solidFill>
                  <a:srgbClr val="73EBF9"/>
                </a:solidFill>
                <a:latin typeface="+mj-lt"/>
              </a:rPr>
              <a:t>CSD-380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What is technology Value Stream?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013358"/>
            <a:ext cx="8388584" cy="413344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iome" panose="020B0503030204020804" pitchFamily="34" charset="0"/>
              </a:rPr>
              <a:t>A technology value stream is a series of activities taken to design , create, and deliver a product or service to its customers, from start to finish. Each step is adding value. </a:t>
            </a:r>
          </a:p>
          <a:p>
            <a:pPr marL="0" indent="0">
              <a:buNone/>
            </a:pPr>
            <a:r>
              <a:rPr lang="en-US" dirty="0">
                <a:latin typeface="Biome" panose="020B0503030204020804" pitchFamily="34" charset="0"/>
              </a:rPr>
              <a:t>Stages include:</a:t>
            </a:r>
          </a:p>
          <a:p>
            <a:pPr lvl="1">
              <a:lnSpc>
                <a:spcPct val="0"/>
              </a:lnSpc>
              <a:buClr>
                <a:srgbClr val="7030A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Biome" panose="020B0503030204020804" pitchFamily="34" charset="0"/>
              </a:rPr>
              <a:t>Business planning </a:t>
            </a:r>
          </a:p>
          <a:p>
            <a:pPr lvl="1">
              <a:lnSpc>
                <a:spcPct val="0"/>
              </a:lnSpc>
              <a:buClr>
                <a:srgbClr val="7030A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Biome" panose="020B0503030204020804" pitchFamily="34" charset="0"/>
              </a:rPr>
              <a:t>Product Management</a:t>
            </a:r>
          </a:p>
          <a:p>
            <a:pPr lvl="1">
              <a:lnSpc>
                <a:spcPct val="0"/>
              </a:lnSpc>
              <a:buClr>
                <a:srgbClr val="7030A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Biome" panose="020B0503030204020804" pitchFamily="34" charset="0"/>
              </a:rPr>
              <a:t>Software development</a:t>
            </a:r>
          </a:p>
          <a:p>
            <a:pPr lvl="1">
              <a:lnSpc>
                <a:spcPct val="0"/>
              </a:lnSpc>
              <a:buClr>
                <a:srgbClr val="7030A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Biome" panose="020B0503030204020804" pitchFamily="34" charset="0"/>
              </a:rPr>
              <a:t>Testing/Quality assurance</a:t>
            </a:r>
          </a:p>
          <a:p>
            <a:pPr lvl="1">
              <a:lnSpc>
                <a:spcPct val="0"/>
              </a:lnSpc>
              <a:buClr>
                <a:srgbClr val="7030A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Biome" panose="020B0503030204020804" pitchFamily="34" charset="0"/>
              </a:rPr>
              <a:t>Validation</a:t>
            </a:r>
          </a:p>
          <a:p>
            <a:pPr lvl="1">
              <a:lnSpc>
                <a:spcPct val="0"/>
              </a:lnSpc>
              <a:buClr>
                <a:srgbClr val="7030A0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Biome" panose="020B0503030204020804" pitchFamily="34" charset="0"/>
              </a:rPr>
              <a:t>Deployment</a:t>
            </a:r>
          </a:p>
          <a:p>
            <a:pPr lvl="1">
              <a:lnSpc>
                <a:spcPct val="0"/>
              </a:lnSpc>
              <a:buFont typeface="Courier New" panose="02070309020205020404" pitchFamily="49" charset="0"/>
              <a:buChar char="o"/>
            </a:pPr>
            <a:endParaRPr lang="en-US" dirty="0">
              <a:latin typeface="Biome" panose="020B05030302040208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Biome" panose="020B0503030204020804" pitchFamily="34" charset="0"/>
              </a:rPr>
              <a:t>It’s important because it speeds up time to market, minimizes waste and bottlenecks, and ensures engineering efforts are focused on business goals.</a:t>
            </a:r>
          </a:p>
          <a:p>
            <a:pPr marL="457200" lvl="1" indent="0">
              <a:lnSpc>
                <a:spcPct val="0"/>
              </a:lnSpc>
              <a:buNone/>
            </a:pPr>
            <a:endParaRPr lang="en-US" dirty="0">
              <a:latin typeface="Biome" panose="020B05030302040208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Lead Time   Vs.   Processing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2"/>
            <a:ext cx="4015098" cy="16169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iome" panose="020B0503030204020804" pitchFamily="34" charset="0"/>
              </a:rPr>
              <a:t>The total amount of time required for a request to move from initiation to customer delivery.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11324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iome" panose="020B0503030204020804" pitchFamily="34" charset="0"/>
              </a:rPr>
              <a:t>The time spent actively working on the request.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28C14-ACAE-CFF2-1585-4B370D06D81F}"/>
              </a:ext>
            </a:extLst>
          </p:cNvPr>
          <p:cNvSpPr txBox="1"/>
          <p:nvPr/>
        </p:nvSpPr>
        <p:spPr>
          <a:xfrm>
            <a:off x="2306973" y="4302613"/>
            <a:ext cx="9227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CDFF5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*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Lead time includes every step in the process, including waiting. Processing time only measures active work. </a:t>
            </a:r>
          </a:p>
          <a:p>
            <a:r>
              <a:rPr lang="en-US" dirty="0">
                <a:solidFill>
                  <a:srgbClr val="1CDFF5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*</a:t>
            </a:r>
            <a:r>
              <a:rPr lang="en-US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 goal is to focus on reducing waiting time because it often accounts for the majority of deployment delays. </a:t>
            </a:r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427840"/>
            <a:ext cx="10515601" cy="830510"/>
          </a:xfrm>
        </p:spPr>
        <p:txBody>
          <a:bodyPr/>
          <a:lstStyle/>
          <a:p>
            <a:r>
              <a:rPr lang="en-US" dirty="0"/>
              <a:t>Value Stream Graphic </a:t>
            </a:r>
          </a:p>
        </p:txBody>
      </p:sp>
      <p:pic>
        <p:nvPicPr>
          <p:cNvPr id="7" name="Picture 6" descr="value stream map example">
            <a:extLst>
              <a:ext uri="{FF2B5EF4-FFF2-40B4-BE49-F238E27FC236}">
                <a16:creationId xmlns:a16="http://schemas.microsoft.com/office/drawing/2014/main" id="{3D1D134F-27EA-5EA7-03D8-5EF1198B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70" y="1455055"/>
            <a:ext cx="9930532" cy="475910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The Common Scenario –Deployment Lead Times Requiring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1CDFF5"/>
                </a:solidFill>
                <a:latin typeface="+mj-lt"/>
              </a:rPr>
              <a:t>Why does deployment take so long?</a:t>
            </a:r>
          </a:p>
          <a:p>
            <a:pPr marL="0" indent="0">
              <a:buNone/>
            </a:pPr>
            <a:endParaRPr lang="en-US" sz="2000" dirty="0">
              <a:solidFill>
                <a:srgbClr val="1CDFF5"/>
              </a:solidFill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CDFF5"/>
                </a:solidFill>
                <a:latin typeface="+mj-lt"/>
              </a:rPr>
              <a:t>Would adding Value Stream mapping be beneficial?</a:t>
            </a:r>
          </a:p>
          <a:p>
            <a:pPr marL="0" indent="0">
              <a:buNone/>
            </a:pPr>
            <a:endParaRPr lang="en-US" sz="2000" dirty="0">
              <a:solidFill>
                <a:srgbClr val="1CDFF5"/>
              </a:solidFill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640818" cy="3723753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Biome" panose="020B0503030204020804" pitchFamily="34" charset="0"/>
              </a:rPr>
              <a:t>Many organizations experience deployment lead times measured in months because of manual testing, long approval cycles, delayed security reviews and rework. </a:t>
            </a:r>
          </a:p>
          <a:p>
            <a:endParaRPr lang="en-US" dirty="0">
              <a:solidFill>
                <a:srgbClr val="FFFFFF"/>
              </a:solidFill>
              <a:latin typeface="Biome" panose="020B0503030204020804" pitchFamily="34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Biome" panose="020B0503030204020804" pitchFamily="34" charset="0"/>
              </a:rPr>
              <a:t>Adding Value Stream mapping benefits organizations because it allows for the corporation to identify bottlenecks, highlight where time is being lost and reveals inefficient workflows.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>
                <a:solidFill>
                  <a:srgbClr val="1CDFF5"/>
                </a:solidFill>
              </a:rPr>
              <a:t>Our DevOps Ideal: Deployment Lead times of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iome" panose="020B0503030204020804" pitchFamily="34" charset="0"/>
              </a:rPr>
              <a:t>The DevOps goal is to reduce lead times from: </a:t>
            </a:r>
          </a:p>
          <a:p>
            <a:pPr marL="283464" lvl="1" indent="0">
              <a:buNone/>
            </a:pPr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	</a:t>
            </a:r>
            <a:r>
              <a:rPr lang="en-US" dirty="0">
                <a:solidFill>
                  <a:srgbClr val="73EBF9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Months –&gt; Weeks –&gt; Days –&gt; Minutes </a:t>
            </a:r>
          </a:p>
          <a:p>
            <a:pPr marL="0" indent="0">
              <a:buNone/>
            </a:pPr>
            <a:r>
              <a:rPr lang="en-US" dirty="0">
                <a:latin typeface="Biome" panose="020B0503030204020804" pitchFamily="34" charset="0"/>
              </a:rPr>
              <a:t>The DevOps Handbook explains that automation and continuous delivery make software deployment faster and more reliable, with security built into each step instead of added at the end.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392160" y="2465388"/>
            <a:ext cx="2856865" cy="3427412"/>
          </a:xfrm>
        </p:spPr>
        <p:txBody>
          <a:bodyPr/>
          <a:lstStyle/>
          <a:p>
            <a:r>
              <a:rPr lang="en-US" sz="2400" dirty="0">
                <a:solidFill>
                  <a:srgbClr val="73EBF9"/>
                </a:solidFill>
                <a:latin typeface="+mj-lt"/>
              </a:rPr>
              <a:t>Benefits: 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</a:rPr>
              <a:t>Faster delivery 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</a:rPr>
              <a:t>Improved quality 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</a:rPr>
              <a:t>Risk reduction 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</a:rPr>
              <a:t>Faster feedback cycles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+mj-lt"/>
              </a:rPr>
              <a:t>Automated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686" y="241798"/>
            <a:ext cx="4352662" cy="2207787"/>
          </a:xfrm>
        </p:spPr>
        <p:txBody>
          <a:bodyPr/>
          <a:lstStyle/>
          <a:p>
            <a:pPr lvl="0"/>
            <a:r>
              <a:rPr lang="en-US" noProof="0" dirty="0"/>
              <a:t>Conclusion</a:t>
            </a:r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765597" y="2743200"/>
            <a:ext cx="5089853" cy="39763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iome" panose="020B0503030204020804" pitchFamily="34" charset="0"/>
              </a:rPr>
              <a:t>Value streams are all about delivering value to customers more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iome" panose="020B0503030204020804" pitchFamily="34" charset="0"/>
              </a:rPr>
              <a:t> Lead time is the total time it takes to deliver something, while processing time is just the time spent actually working on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iome" panose="020B0503030204020804" pitchFamily="34" charset="0"/>
              </a:rPr>
              <a:t>Deployment processes can take months because of delays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iome" panose="020B0503030204020804" pitchFamily="34" charset="0"/>
              </a:rPr>
              <a:t>Value Stream Mapping helps spot waste and fix slow parts of the process.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iome" panose="020B0503030204020804" pitchFamily="34" charset="0"/>
              </a:rPr>
              <a:t>DevOps goal is to cut deployment times from months down to minutes.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F83540-F663-16D9-4A0C-CD01E4468EEC}"/>
              </a:ext>
            </a:extLst>
          </p:cNvPr>
          <p:cNvSpPr txBox="1"/>
          <p:nvPr/>
        </p:nvSpPr>
        <p:spPr>
          <a:xfrm>
            <a:off x="835830" y="2672387"/>
            <a:ext cx="3568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3EBF9"/>
                </a:solidFill>
                <a:latin typeface="+mj-lt"/>
              </a:rPr>
              <a:t>References: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AF67A-A8C2-DE60-39AD-8FE6647CBE8A}"/>
              </a:ext>
            </a:extLst>
          </p:cNvPr>
          <p:cNvSpPr txBox="1"/>
          <p:nvPr/>
        </p:nvSpPr>
        <p:spPr>
          <a:xfrm>
            <a:off x="879307" y="3173900"/>
            <a:ext cx="723437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Brown, N. (2021, September 27). </a:t>
            </a:r>
            <a:r>
              <a:rPr lang="en-US" sz="1400" i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Taking </a:t>
            </a:r>
            <a:r>
              <a:rPr lang="en-US" sz="1400" i="1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DevSecOps</a:t>
            </a:r>
            <a:r>
              <a:rPr lang="en-US" sz="1400" i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to the next level with value stream mapping</a:t>
            </a:r>
            <a:r>
              <a:rPr lang="en-US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 Software Engineering Institute, Carnegie Mellon University. </a:t>
            </a:r>
            <a:r>
              <a:rPr lang="en-US" sz="1400" dirty="0">
                <a:solidFill>
                  <a:srgbClr val="FFFFFF"/>
                </a:solidFill>
                <a:latin typeface="Biome" panose="020B0503030204020804" pitchFamily="34" charset="0"/>
                <a:cs typeface="Biome" panose="020B05030302040208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https://www.sei.cmu.edu/blog/taking-devsecops-to-the-next-level-with-value-stream-mapping</a:t>
            </a:r>
            <a:r>
              <a:rPr lang="en-US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Kim, G., Humble, J., Debois, P., &amp; Willis, J. (2021). </a:t>
            </a:r>
            <a:r>
              <a:rPr lang="en-US" sz="1400" i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The DevOps handbook: How to create world-class agility, reliability, &amp; security in technology organizations</a:t>
            </a:r>
            <a:r>
              <a:rPr lang="en-US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(2nd ed.). IT Revolution.</a:t>
            </a:r>
          </a:p>
          <a:p>
            <a:endParaRPr lang="en-US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Purdue University. (2024, November 7). </a:t>
            </a:r>
            <a:r>
              <a:rPr lang="en-US" sz="1400" i="1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Value stream mapping: The search for adding value and eliminating waste</a:t>
            </a:r>
            <a:r>
              <a:rPr lang="en-US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. Purdue University Lean Six Sigma Online. </a:t>
            </a:r>
            <a:r>
              <a:rPr lang="en-US" sz="14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  <a:hlinkClick r:id="rId4"/>
              </a:rPr>
              <a:t>https://www.purdue.edu/leansixsigmaonline/blog/value-stream-mapping/</a:t>
            </a:r>
            <a:endParaRPr lang="en-US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{91DCEED5-09A0-47C3-AD4A-B081741F7C4E}TFe8699e8e-689b-4d7e-abcf-e888fd749829db3118dc_win32-d573b439b56f</Template>
  <TotalTime>84</TotalTime>
  <Words>534</Words>
  <Application>Microsoft Office PowerPoint</Application>
  <PresentationFormat>Widescreen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Nova</vt:lpstr>
      <vt:lpstr>Biome</vt:lpstr>
      <vt:lpstr>Calibri</vt:lpstr>
      <vt:lpstr>Courier New</vt:lpstr>
      <vt:lpstr>Custom</vt:lpstr>
      <vt:lpstr>The Technology Value Stream</vt:lpstr>
      <vt:lpstr>What is technology Value Stream?</vt:lpstr>
      <vt:lpstr>Lead Time   Vs.   Processing Time</vt:lpstr>
      <vt:lpstr>Value Stream Graphic </vt:lpstr>
      <vt:lpstr>The Common Scenario –Deployment Lead Times Requiring Months</vt:lpstr>
      <vt:lpstr>Our DevOps Ideal: Deployment Lead times of minutes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Rodriguez</dc:creator>
  <cp:lastModifiedBy>Carolina Rodriguez</cp:lastModifiedBy>
  <cp:revision>2</cp:revision>
  <dcterms:created xsi:type="dcterms:W3CDTF">2026-06-04T21:37:05Z</dcterms:created>
  <dcterms:modified xsi:type="dcterms:W3CDTF">2026-06-04T23:01:36Z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